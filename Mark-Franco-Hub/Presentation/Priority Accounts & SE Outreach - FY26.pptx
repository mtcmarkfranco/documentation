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icrosoft.sharepoint.com/teams/HubTechCommunity/Shared%20Documents/FY27%20Americas%20Hub%20Offerings/POD%207/One%20Pager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Priority Accounts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896112"/>
          <a:ext cx="11183112" cy="415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57400"/>
                <a:gridCol w="1508760"/>
                <a:gridCol w="638251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Account</a:t>
                      </a:r>
                    </a:p>
                  </a:txBody>
                  <a:tcPr marL="45720" marR="45720" marT="27432" marB="27432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Segment</a:t>
                      </a:r>
                    </a:p>
                  </a:txBody>
                  <a:tcPr marL="45720" marR="45720" marT="27432" marB="27432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Open Pipeline (MSX)</a:t>
                      </a:r>
                    </a:p>
                  </a:txBody>
                  <a:tcPr marL="45720" marR="45720" marT="27432" marB="27432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Top Opportunity</a:t>
                      </a:r>
                    </a:p>
                  </a:txBody>
                  <a:tcPr marL="45720" marR="45720" marT="27432" marB="27432" anchor="ctr">
                    <a:solidFill>
                      <a:srgbClr val="0078D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BMO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Strategic - Commercial (Banking)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~$97.1M open (85 open opps)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42A31"/>
                          </a:solidFill>
                          <a:latin typeface="Aptos"/>
                        </a:rPr>
                        <a:t>BMO Life – SIP/SAP/SUP/Data/CoreSuite/DigitalSuite (sapiens SaaS) — $16.1M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Constellation Software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Upper Majors - Commercial (IT Services)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~$39.3M open (343 open opps)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42A31"/>
                          </a:solidFill>
                          <a:latin typeface="Aptos"/>
                        </a:rPr>
                        <a:t>FY27 Q4 M(Jun) Ren – EA Autoload – Constellation Software — $14.7M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Government of Ontario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Strategic - Public Sector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~$30.1M open (201 open opps)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42A31"/>
                          </a:solidFill>
                          <a:latin typeface="Aptos"/>
                        </a:rPr>
                        <a:t>FY27 Q4 TUP – EA – Centralized Supply Chain Ontario — $5.6M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Metrolinx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Upper Majors - Government (Transport)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~$8.0M open (59 open opps)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42A31"/>
                          </a:solidFill>
                          <a:latin typeface="Aptos"/>
                        </a:rPr>
                        <a:t>FY27 Q1 – Metrolinx M365 E7 — $3.4M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RBC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Strategic - Commercial (Banking)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~$484.6M open (244 open opps)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42A31"/>
                          </a:solidFill>
                          <a:latin typeface="Aptos"/>
                        </a:rPr>
                        <a:t>FY27 – #KEY – New Azure MACC — $550M CAD (~$398M USD base)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Saputo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Upper Majors - Commercial (Consumer Goods)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~$8.3M open (21 open opps)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42A31"/>
                          </a:solidFill>
                          <a:latin typeface="Aptos"/>
                        </a:rPr>
                        <a:t>FY27 – Saputo – Q4 Renewal EAS Autoload — $9.5M CAD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WSIB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Upper Majors - Government (Social Programs)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~$2.27M open (50 open opps)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42A31"/>
                          </a:solidFill>
                          <a:latin typeface="Aptos"/>
                        </a:rPr>
                        <a:t>FY27 – E7 Anniversary — $1.38M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WSP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Strategic - Commercial (Other Services)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42A31"/>
                          </a:solidFill>
                          <a:latin typeface="Aptos"/>
                        </a:rPr>
                        <a:t>~$25.3M open (153 open opps)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42A31"/>
                          </a:solidFill>
                          <a:latin typeface="Aptos"/>
                        </a:rPr>
                        <a:t>Agent 365 + Entra Suite — $10.9M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257800"/>
            <a:ext cx="11183112" cy="71323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394960"/>
            <a:ext cx="10771632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 b="1">
                <a:solidFill>
                  <a:srgbClr val="242A31"/>
                </a:solidFill>
                <a:latin typeface="Aptos"/>
              </a:rPr>
              <a:t>Content shared: </a:t>
            </a:r>
            <a:r>
              <a:rPr sz="1050" b="0">
                <a:solidFill>
                  <a:srgbClr val="0078D4"/>
                </a:solidFill>
                <a:latin typeface="Aptos"/>
                <a:hlinkClick r:id="rId2"/>
              </a:rPr>
              <a:t>One-pager library</a:t>
            </a:r>
            <a:r>
              <a:rPr sz="940" b="0">
                <a:solidFill>
                  <a:srgbClr val="242A31"/>
                </a:solidFill>
                <a:latin typeface="Aptos"/>
              </a:rPr>
              <a:t>  |  Recurring sync → Account planning → Map one-pager to top opp → Run engagement → Record outcome in MSX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0">
                <a:solidFill>
                  <a:srgbClr val="5B6670"/>
                </a:solidFill>
                <a:latin typeface="Aptos"/>
              </a:rPr>
              <a:t>Microsoft Innovation Hub · Americas · FY26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01400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SE Manager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10642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350" b="1">
                <a:solidFill>
                  <a:srgbClr val="242A31"/>
                </a:solidFill>
                <a:latin typeface="Aptos"/>
              </a:rPr>
              <a:t>Hub Solution Engineering team — Laurie Roseland-Barnes (manager)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98448"/>
          <a:ext cx="653796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48840"/>
                <a:gridCol w="27889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Name</a:t>
                      </a:r>
                    </a:p>
                  </a:txBody>
                  <a:tcPr marL="45720" marR="45720" marT="27432" marB="27432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Title</a:t>
                      </a:r>
                    </a:p>
                  </a:txBody>
                  <a:tcPr marL="45720" marR="45720" marT="27432" marB="27432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Email</a:t>
                      </a:r>
                    </a:p>
                  </a:txBody>
                  <a:tcPr marL="45720" marR="45720" marT="27432" marB="27432" anchor="ctr"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Mark Franco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Sr Solution Engineer Hub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Mark.Franco@microsoft.com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Ansar Mohammed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Sr Solution Engineer Hub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ansarm@microsoft.com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Carlos Rocchetti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Sr Solution Engineer Hub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Carlos.Rocchetti@microsoft.com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Jordan Dowdall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Sr Solution Engineer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jdowdall@microsoft.com</a:t>
                      </a:r>
                    </a:p>
                  </a:txBody>
                  <a:tcPr marL="45720" marR="45720" marT="27432" marB="27432" anchor="ctr">
                    <a:solidFill>
                      <a:srgbClr val="EA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Winner Emeto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Sr Solution Engineer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42A31"/>
                          </a:solidFill>
                          <a:latin typeface="Aptos"/>
                        </a:rPr>
                        <a:t>wemeto@microsoft.com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52360" y="1298448"/>
            <a:ext cx="4160520" cy="4069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1536192"/>
            <a:ext cx="370332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78D4"/>
                </a:solidFill>
                <a:latin typeface="Aptos"/>
              </a:rPr>
              <a:t>New Demos &amp; 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1938528"/>
            <a:ext cx="3621024" cy="251460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600"/>
              </a:spcAft>
              <a:defRPr sz="1019">
                <a:solidFill>
                  <a:srgbClr val="242A31"/>
                </a:solidFill>
                <a:latin typeface="Aptos"/>
              </a:defRPr>
            </a:pPr>
            <a:r>
              <a:t>Agentic AI rapid-prototype experiences (Copilot Studio multi-agent + Azure AI Foundry)</a:t>
            </a:r>
          </a:p>
          <a:p>
            <a:pPr>
              <a:spcAft>
                <a:spcPts val="600"/>
              </a:spcAft>
              <a:defRPr sz="1019">
                <a:solidFill>
                  <a:srgbClr val="242A31"/>
                </a:solidFill>
                <a:latin typeface="Aptos"/>
              </a:defRPr>
            </a:pPr>
            <a:r>
              <a:t>M365 Copilot extensibility &amp; line-of-business agent demos</a:t>
            </a:r>
          </a:p>
          <a:p>
            <a:pPr>
              <a:spcAft>
                <a:spcPts val="600"/>
              </a:spcAft>
              <a:defRPr sz="1019">
                <a:solidFill>
                  <a:srgbClr val="242A31"/>
                </a:solidFill>
                <a:latin typeface="Aptos"/>
              </a:defRPr>
            </a:pPr>
            <a:r>
              <a:t>App modernization with agentic AI (GitHub Copilot + Azure) hackathons</a:t>
            </a:r>
          </a:p>
          <a:p>
            <a:pPr>
              <a:spcAft>
                <a:spcPts val="600"/>
              </a:spcAft>
              <a:defRPr sz="1019">
                <a:solidFill>
                  <a:srgbClr val="242A31"/>
                </a:solidFill>
                <a:latin typeface="Aptos"/>
              </a:defRPr>
            </a:pPr>
            <a:r>
              <a:t>Microsoft Fabric for Finance / real-time data rapid prototypes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977639"/>
            <a:ext cx="6537960" cy="9601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187952"/>
            <a:ext cx="6035040" cy="53035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We can set up a recurring sync to bring these demos to the SE team and align them to priority account 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0">
                <a:solidFill>
                  <a:srgbClr val="5B6670"/>
                </a:solidFill>
                <a:latin typeface="Aptos"/>
              </a:rPr>
              <a:t>Microsoft Innovation Hub · Americas · FY26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
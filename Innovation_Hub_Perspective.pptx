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54864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Segoe UI"/>
              </a:defRPr>
            </a:pPr>
            <a:r>
              <a:t>The Innovation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What Changed, What Broke, and How We Measure the Wrong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Perspective:  Solution Engineers operating inside the 2025–2026 Hub model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  <a:latin typeface="Segoe UI"/>
              </a:defRPr>
            </a:pPr>
            <a:r>
              <a:t>Audience:  Senior Leadership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  <a:latin typeface="Segoe UI"/>
              </a:defRPr>
            </a:pPr>
            <a:r>
              <a:t>Intent:  Explain real-world impact and propose better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Why This Story Needs to Be Told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Innovation Hub was designed to enable, not filter.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Recent changes unintentionally: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Reduced customer access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Disengaged priority accounts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Misaligned accountability and metrics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600"/>
              </a:spcBef>
              <a:spcAft>
                <a:spcPts val="200"/>
              </a:spcAft>
              <a:defRPr sz="1800" b="1">
                <a:solidFill>
                  <a:srgbClr val="FFD93D"/>
                </a:solidFill>
                <a:latin typeface="Segoe UI"/>
              </a:defRPr>
            </a:pPr>
            <a:r>
              <a:t>What looks good in dashboards does not reflect what is happening on the ground.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60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  <a:latin typeface="Segoe UI"/>
              </a:defRPr>
            </a:pPr>
            <a:r>
              <a:t>This is not a critique of intent — it’s feedback from lived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What the Hub Has Always Been Good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The historical role of the Hub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Helping customers move from: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000" b="1">
                <a:solidFill>
                  <a:srgbClr val="00B4D8"/>
                </a:solidFill>
                <a:latin typeface="Segoe UI"/>
              </a:defRPr>
            </a:pPr>
            <a:r>
              <a:t>idea  →  clarity  →  prototype  →  confidence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Removing blockers early, before revenue is visible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Creating momentum sales teams can build 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Acting as an enabler, not a gatekeeper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4ECB71"/>
                </a:solidFill>
                <a:latin typeface="Segoe UI"/>
              </a:defRPr>
            </a:pPr>
            <a:r>
              <a:t>OUTCOME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Revenue follows confidence —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it does not precede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6B"/>
                </a:solidFill>
                <a:latin typeface="Segoe UI"/>
              </a:defRPr>
            </a:pPr>
            <a:r>
              <a:t>The First Structural Break: Pipeline-Based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WHAT CHANGED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Entry to the Hub increasingly requires: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Large opportunity size (e.g., $1M+)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 Specific account classifications (EOU / Growth Majors)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Hub participation is evaluated using sales pipeline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THE ISSUE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Solution Engineers do not own: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Pipeline creation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Opportunity sizing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Account prioritization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Yet we are measured as if we do.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  <a:latin typeface="Segoe UI"/>
              </a:defRPr>
            </a:pPr>
            <a:r>
              <a:t>We are being asked to predict outcomes using signals we do not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Segoe UI"/>
              </a:defRPr>
            </a:pPr>
            <a:r>
              <a:t>"Proactive" Became Prediction Instead of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HOW "PROACTIVE" IS CURRENTLY DEFINED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Static priority lists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Quarterly revisions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Pre-filtering customers based on internal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WHAT WE SEE IN REALITY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Customer priorities only become clear during Business Envisioning.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Sales-led views are inherently: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Partial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Optimistic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Missing real-world constraints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FFD93D"/>
                </a:solidFill>
                <a:latin typeface="Segoe UI"/>
              </a:defRPr>
            </a:pPr>
            <a:r>
              <a:t>Customers unpack significantly more value, risk, and opportunity once we put structured thinking in front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B71"/>
                </a:solidFill>
                <a:latin typeface="Segoe UI"/>
              </a:defRPr>
            </a:pPr>
            <a:r>
              <a:t>Business Envisioning Is Not Optional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OBSERVATION FROM THE FIELD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Even well-prepared account teams discover: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New workloads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Cross-domain use cases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Organizational blockers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After a Hub-led envisioning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4ECB71"/>
                </a:solidFill>
                <a:latin typeface="Segoe UI"/>
              </a:defRPr>
            </a:pPr>
            <a:r>
              <a:t>IMPLICATION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Trying to pre-qualify innovation before discovery is structurally flawed.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The Hub’s value lies in learning, not certifying 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6B"/>
                </a:solidFill>
                <a:latin typeface="Segoe UI"/>
              </a:defRPr>
            </a:pPr>
            <a:r>
              <a:t>The Cost of Entry Is Too High (Especially in Canada)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CURRENT QUALIFICATION REALITY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EOU or Growth Major accounts only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$1M+ minimum opportunity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Heavy upfront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CANADIAN MARKET REALITY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Most innovation starts at: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800" b="1">
                <a:solidFill>
                  <a:srgbClr val="00B4D8"/>
                </a:solidFill>
                <a:latin typeface="Segoe UI"/>
              </a:defRPr>
            </a:pPr>
            <a:r>
              <a:t>$100K – $500K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These are: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Intent signals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Trust builders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Seeds for scale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FD93D"/>
                </a:solidFill>
                <a:latin typeface="Segoe UI"/>
              </a:defRPr>
            </a:pPr>
            <a:r>
              <a:t>When rejected repeatedly, account teams stop engaging altogether.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6B"/>
                </a:solidFill>
                <a:latin typeface="Segoe UI"/>
              </a:defRPr>
            </a:pPr>
            <a:r>
              <a:t>The Result: Priority Accounts Walk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WHAT WE ARE SEEING THIS YEAR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Priority accounts disengaging from the Hub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Account teams choosing not to submit requests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Innovation conversations ending before they begin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perceived effort outweighs perceived value.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Early exploration is penalized instead of encouraged.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93D"/>
                </a:solidFill>
                <a:latin typeface="Segoe UI"/>
              </a:defRPr>
            </a:pPr>
            <a:r>
              <a:t>The Moment We’re Preventing: The “Lightbulb”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13716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D93D"/>
                </a:solidFill>
                <a:latin typeface="Segoe UI"/>
              </a:defRPr>
            </a:pPr>
            <a:r>
              <a:t>“Oh… I get it now. I finally understand what the Hub does.”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A CONSISTENT ANECDOTE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Happens after first exposure.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Creates: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Internal champions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Better framing with customers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Repeat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4572000" cy="2286000"/>
          </a:xfrm>
          <a:prstGeom prst="roundRect">
            <a:avLst/>
          </a:prstGeom>
          <a:solidFill>
            <a:srgbClr val="3A1A1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High barriers prevent first exposure.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2000" b="1">
                <a:solidFill>
                  <a:srgbClr val="FF6B6B"/>
                </a:solidFill>
                <a:latin typeface="Segoe UI"/>
              </a:defRPr>
            </a:pPr>
            <a:r>
              <a:t>The lightbulb never turns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Measuring the Wrong Moment in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WHAT WE MEASURE TODAY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Opportunity size before Hub engagement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Account classification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Predicted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WHAT THIS MISSES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Customer learning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Confidence gained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Willingness to continue the journey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Early signals of success are being ignored.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B71"/>
                </a:solidFill>
                <a:latin typeface="Segoe UI"/>
              </a:defRPr>
            </a:pPr>
            <a:r>
              <a:t>A Better Measuring Stick: Journey Continuity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029200" cy="4114800"/>
          </a:xfrm>
          <a:prstGeom prst="roundRect">
            <a:avLst/>
          </a:prstGeom>
          <a:solidFill>
            <a:srgbClr val="1A2A1A"/>
          </a:solidFill>
          <a:ln w="2540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4ECB71"/>
                </a:solidFill>
                <a:latin typeface="Segoe UI"/>
              </a:defRPr>
            </a:pPr>
            <a:r>
              <a:t>PROPOSED PRIMARY SUCCESS METRIC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Repeat Journey Engagement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•  Did the customer return?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•  Did the account team re-engage?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•  Did the journey progress beyond the first touch?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WHY THIS MATTERS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4ECB71"/>
                </a:solidFill>
                <a:latin typeface="Segoe UI"/>
              </a:defRPr>
            </a:pPr>
            <a:r>
              <a:t>•  Signals real value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4ECB71"/>
                </a:solidFill>
                <a:latin typeface="Segoe UI"/>
              </a:defRPr>
            </a:pPr>
            <a:r>
              <a:t>•  Reflects Hub impact, not sales guesswork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4ECB71"/>
                </a:solidFill>
                <a:latin typeface="Segoe UI"/>
              </a:defRPr>
            </a:pPr>
            <a:r>
              <a:t>•  Correlates more reliably with long-term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Portfolio Drift: What Disappeared Quietly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WHAT WE EMPHASIZED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00B4D8"/>
                </a:solidFill>
                <a:latin typeface="Segoe UI"/>
              </a:defRPr>
            </a:pPr>
            <a:r>
              <a:t>•  Copilot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00B4D8"/>
                </a:solidFill>
                <a:latin typeface="Segoe UI"/>
              </a:defRPr>
            </a:pPr>
            <a:r>
              <a:t>• 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801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WHAT DECLINED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FF6B6B"/>
                </a:solidFill>
                <a:latin typeface="Segoe UI"/>
              </a:defRPr>
            </a:pPr>
            <a:r>
              <a:t>•  App Innovation engagements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WHY THIS MATTERS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Many app-centric problems were reclassified or absorbed elsewhere.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App innovation didn’t vanish — it was displaced.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  <a:latin typeface="Segoe UI"/>
              </a:defRPr>
            </a:pPr>
            <a:r>
              <a:t>This distorts reporting and underrepresents true customer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Segoe UI"/>
              </a:defRPr>
            </a:pPr>
            <a:r>
              <a:t>Engagement Assignment Is Also a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CURRENT PERCEPTION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Business Envisioning reserved for some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Deep technical resources pushed only to late-stage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801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  <a:latin typeface="Segoe UI"/>
              </a:defRPr>
            </a:pPr>
            <a:r>
              <a:t>REALITY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All Hub Solution Engineers: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Are cross-solution architects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Are trained in ideation and envisioning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Can and should start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2801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IMPACT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Uneven growth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Reduced ownership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FF6B6B"/>
                </a:solidFill>
                <a:latin typeface="Segoe UI"/>
              </a:defRPr>
            </a:pPr>
            <a:r>
              <a:t>•  Lower team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6B"/>
                </a:solidFill>
                <a:latin typeface="Segoe UI"/>
              </a:defRPr>
            </a:pPr>
            <a:r>
              <a:t>The Priority Account Strategy: Why It Was Dead on Arrival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AA"/>
                </a:solidFill>
                <a:latin typeface="Segoe UI"/>
              </a:defRPr>
            </a:pPr>
            <a:r>
              <a:t>ASSUMPTIONS BEHIND THE MODEL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Customers know what they want upfront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Innovation paths are linear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•  Value can be predicted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REALITY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Innovation is nonlinear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Priority emerges through engagement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4ECB71"/>
                </a:solidFill>
                <a:latin typeface="Segoe UI"/>
              </a:defRPr>
            </a:pPr>
            <a:r>
              <a:t>•  Discovery creates the priority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Gating discovery prevents priority from ever forming.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B71"/>
                </a:solidFill>
                <a:latin typeface="Segoe UI"/>
              </a:defRPr>
            </a:pPr>
            <a:r>
              <a:t>What the Hub Should Be Optimized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Hub should be: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4ECB71"/>
                </a:solidFill>
                <a:latin typeface="Segoe UI"/>
              </a:defRPr>
            </a:pPr>
            <a:r>
              <a:t>•  Low friction at entry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4ECB71"/>
                </a:solidFill>
                <a:latin typeface="Segoe UI"/>
              </a:defRPr>
            </a:pPr>
            <a:r>
              <a:t>•  High leverage in execution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4ECB71"/>
                </a:solidFill>
                <a:latin typeface="Segoe UI"/>
              </a:defRPr>
            </a:pPr>
            <a:r>
              <a:t>•  Fast in discovery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>
                <a:solidFill>
                  <a:srgbClr val="4ECB71"/>
                </a:solidFill>
                <a:latin typeface="Segoe UI"/>
              </a:defRPr>
            </a:pPr>
            <a:r>
              <a:t>•  Measured on momentum, not speculation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36576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THE SHIFT REQUIRED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1">
                <a:solidFill>
                  <a:srgbClr val="FF6B6B"/>
                </a:solidFill>
                <a:latin typeface="Segoe UI"/>
              </a:defRPr>
            </a:pPr>
            <a:r>
              <a:t>From: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FF6B6B"/>
                </a:solidFill>
                <a:latin typeface="Segoe UI"/>
              </a:defRPr>
            </a:pPr>
            <a:r>
              <a:t>Prediction and restriction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800" b="1">
                <a:solidFill>
                  <a:srgbClr val="4ECB71"/>
                </a:solidFill>
                <a:latin typeface="Segoe UI"/>
              </a:defRPr>
            </a:pPr>
            <a:r>
              <a:t>To: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4ECB71"/>
                </a:solidFill>
                <a:latin typeface="Segoe UI"/>
              </a:defRPr>
            </a:pPr>
            <a:r>
              <a:t>Enablement and pull-through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457200"/>
            <a:ext cx="54864" cy="5943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914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Hub should not be the hardest place to get into.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200"/>
              </a:spcAft>
              <a:defRPr sz="2800" b="1">
                <a:solidFill>
                  <a:srgbClr val="00B4D8"/>
                </a:solidFill>
                <a:latin typeface="Segoe UI"/>
              </a:defRPr>
            </a:pPr>
            <a:r>
              <a:t>It should be the easiest place to start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If we measure: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2200">
                <a:solidFill>
                  <a:srgbClr val="4ECB71"/>
                </a:solidFill>
                <a:latin typeface="Segoe UI"/>
              </a:defRPr>
            </a:pPr>
            <a:r>
              <a:t>•  Continuity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200">
                <a:solidFill>
                  <a:srgbClr val="4ECB71"/>
                </a:solidFill>
                <a:latin typeface="Segoe UI"/>
              </a:defRPr>
            </a:pPr>
            <a:r>
              <a:t>•  Repeat engagement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200">
                <a:solidFill>
                  <a:srgbClr val="4ECB71"/>
                </a:solidFill>
                <a:latin typeface="Segoe UI"/>
              </a:defRPr>
            </a:pPr>
            <a:r>
              <a:t>•  Customer confidence growth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4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We will see the true impact of the Innovation Hub —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FFD93D"/>
                </a:solidFill>
                <a:latin typeface="Segoe UI"/>
              </a:defRPr>
            </a:pPr>
            <a:r>
              <a:t>and unlock more revenue, not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AA"/>
                </a:solidFill>
                <a:latin typeface="Segoe U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